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ru-K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 showGuides="1">
      <p:cViewPr varScale="1">
        <p:scale>
          <a:sx n="107" d="100"/>
          <a:sy n="107" d="100"/>
        </p:scale>
        <p:origin x="696" y="11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KZ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756E0E-C076-44CD-B50D-34171836EDA2}" type="datetimeFigureOut">
              <a:rPr lang="ru-KZ" smtClean="0"/>
              <a:t>27.06.2026</a:t>
            </a:fld>
            <a:endParaRPr lang="ru-KZ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KZ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KZ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F911D4-F517-4872-BB5C-28BE34962E7C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16474969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KZ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F911D4-F517-4872-BB5C-28BE34962E7C}" type="slidenum">
              <a:rPr lang="ru-KZ" smtClean="0"/>
              <a:t>2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10057154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DDDD688-1337-5E61-9B95-A6CAEE53FD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3486E58-6D4A-E9E8-0E02-7E4432DDA4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ru-KZ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483D4E7-0529-D65E-9E94-CDA8BFD70C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A13E29-8B14-46E2-9B0D-9968E4AD21D4}" type="datetimeFigureOut">
              <a:rPr lang="ru-KZ" smtClean="0"/>
              <a:t>27.06.2026</a:t>
            </a:fld>
            <a:endParaRPr lang="ru-KZ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378934C-890F-2750-79CA-619DAFAF3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88E84CA-42AC-344D-04E3-78CE0B95C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80ECF8-9506-4D60-A816-A0398180C77F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37661924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762F980-FAC8-1635-38AB-D1C4FBBE77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21A598A-70D1-0238-5C7F-DBAF24C990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28EB5A6-D7F1-1570-008F-95DFF7614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A13E29-8B14-46E2-9B0D-9968E4AD21D4}" type="datetimeFigureOut">
              <a:rPr lang="ru-KZ" smtClean="0"/>
              <a:t>27.06.2026</a:t>
            </a:fld>
            <a:endParaRPr lang="ru-KZ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18794A3-CA08-A095-39C9-F3870B9FD9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513BA7E-1AED-D2D7-E5B7-9FFF85577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80ECF8-9506-4D60-A816-A0398180C77F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2394045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63BD7D6-661A-EF8F-2E4B-4DBC86A038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E236244-5D51-29C9-486B-054CBADEB0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44623A2-C266-4935-AEC0-5C48B33A89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A13E29-8B14-46E2-9B0D-9968E4AD21D4}" type="datetimeFigureOut">
              <a:rPr lang="ru-KZ" smtClean="0"/>
              <a:t>27.06.2026</a:t>
            </a:fld>
            <a:endParaRPr lang="ru-KZ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F8DDD05-BF85-2737-9673-17B5AC5DA5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F3813D4-7CA2-0166-FD60-8413B6A15D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80ECF8-9506-4D60-A816-A0398180C77F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25173259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46DCBC-D927-0D4C-8362-854840295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828FF8E-CCE7-689A-C218-197034463D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FA540B4-7C7E-351C-73D7-5C5E46F484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97DF369-EF2E-D277-2B8E-5D6C8E9281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A13E29-8B14-46E2-9B0D-9968E4AD21D4}" type="datetimeFigureOut">
              <a:rPr lang="ru-KZ" smtClean="0"/>
              <a:t>27.06.2026</a:t>
            </a:fld>
            <a:endParaRPr lang="ru-KZ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15E4717-3966-A3D8-5EF8-A7C3C8C845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FB1908F-4CB8-D649-E33B-6ED81F1EAB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80ECF8-9506-4D60-A816-A0398180C77F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27467738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C96A57E-7CDD-8517-6C7C-920025A306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15DC7DB-A013-2551-8802-AFD9679463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B9F9624D-A6ED-2D57-C2D6-6ADCD6CF82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5B17DA83-4CF9-5233-AA30-EB948B9357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0D93A73-793D-695F-1BB3-ADB9BF5FF14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C0233909-A9FC-D8A9-6DC1-D4C1B1E0B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A13E29-8B14-46E2-9B0D-9968E4AD21D4}" type="datetimeFigureOut">
              <a:rPr lang="ru-KZ" smtClean="0"/>
              <a:t>27.06.2026</a:t>
            </a:fld>
            <a:endParaRPr lang="ru-KZ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8BD4549F-8E83-248F-6C22-746E193F3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9358FD1C-926D-8719-8EC7-8D9F4D009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80ECF8-9506-4D60-A816-A0398180C77F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18378212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E2E20E-A763-4855-BAF8-F9E3A8B8E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6AB545F9-CB72-696E-3D3A-F3B74A1A30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A13E29-8B14-46E2-9B0D-9968E4AD21D4}" type="datetimeFigureOut">
              <a:rPr lang="ru-KZ" smtClean="0"/>
              <a:t>27.06.2026</a:t>
            </a:fld>
            <a:endParaRPr lang="ru-KZ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CEA0BE91-7516-CD08-B734-4A2DDF6CF9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794FB50-9F40-28C1-C9D3-DBA8B5EDD0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80ECF8-9506-4D60-A816-A0398180C77F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17359684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DB963C1-997F-F8F9-A3B4-325F87263B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A13E29-8B14-46E2-9B0D-9968E4AD21D4}" type="datetimeFigureOut">
              <a:rPr lang="ru-KZ" smtClean="0"/>
              <a:t>27.06.2026</a:t>
            </a:fld>
            <a:endParaRPr lang="ru-KZ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173AFD0-467A-CAA7-7108-61DF51C07C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5DD9583-F0DB-4FD6-E4FA-A3AC50051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80ECF8-9506-4D60-A816-A0398180C77F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37613042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953194F-236D-E362-3B10-88C78935C1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016D95E-9786-CDC8-AC2A-1DA8B9E705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E4FCB8A-0B03-B855-6061-47E760A7A7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AEDABDB-A9A1-55B2-B0DF-2F711BF47C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A13E29-8B14-46E2-9B0D-9968E4AD21D4}" type="datetimeFigureOut">
              <a:rPr lang="ru-KZ" smtClean="0"/>
              <a:t>27.06.2026</a:t>
            </a:fld>
            <a:endParaRPr lang="ru-KZ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D01396B-0892-CD72-6DA0-39236B06D4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B587302-C6C0-6DA5-567F-FC3728C32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80ECF8-9506-4D60-A816-A0398180C77F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11054508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37961A4-DAA7-586B-1AE8-6480077D0D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61F8F3D3-BE31-31DE-25D2-2F3C10547F2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KZ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FCE565A2-9B1D-7425-699B-B189EDC8FC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DCD740D-5E18-4CE2-8109-4B04572B3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A13E29-8B14-46E2-9B0D-9968E4AD21D4}" type="datetimeFigureOut">
              <a:rPr lang="ru-KZ" smtClean="0"/>
              <a:t>27.06.2026</a:t>
            </a:fld>
            <a:endParaRPr lang="ru-KZ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752F9C8-AD1E-B143-52E7-0A7D73BF7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C1003B9-4A71-656E-DE49-B682E08BD7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80ECF8-9506-4D60-A816-A0398180C77F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38621587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669AC09-D252-32F2-C8F0-D1F98A63D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07457A1A-2EF2-52AB-AFA4-FDEE948871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E56647D-B2A0-FBD4-D6FA-7D618D1235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A13E29-8B14-46E2-9B0D-9968E4AD21D4}" type="datetimeFigureOut">
              <a:rPr lang="ru-KZ" smtClean="0"/>
              <a:t>27.06.2026</a:t>
            </a:fld>
            <a:endParaRPr lang="ru-KZ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443100C-2CA0-902F-42DB-1B802B0DC8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8166FDB-9305-54E0-6C25-A0FAF8B5CF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80ECF8-9506-4D60-A816-A0398180C77F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22749039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70DF85DA-26FA-2C8B-021E-E98BA945720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AC5F6B0D-E6D0-4CB5-AB85-AB2E619A94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8EC68C8-C14A-0130-5D45-D5D6EB9092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A13E29-8B14-46E2-9B0D-9968E4AD21D4}" type="datetimeFigureOut">
              <a:rPr lang="ru-KZ" smtClean="0"/>
              <a:t>27.06.2026</a:t>
            </a:fld>
            <a:endParaRPr lang="ru-KZ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E7D8446-D6C7-7684-95D3-B1F91FE96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EE8E7C8-5BA6-0EF3-1CC6-CBEE8CBF74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80ECF8-9506-4D60-A816-A0398180C77F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34150992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D74610A-2C52-52D2-B0DA-9CE36E0E27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ru-KZ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8762332-0E1F-701E-FDB6-197BCC1398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KZ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6ED2F71-C346-1AD0-142F-EF70FB62FA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A13E29-8B14-46E2-9B0D-9968E4AD21D4}" type="datetimeFigureOut">
              <a:rPr lang="ru-KZ" smtClean="0"/>
              <a:t>27.06.2026</a:t>
            </a:fld>
            <a:endParaRPr lang="ru-KZ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69516BD-66B8-DD30-F8DC-7E300A8C8B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KZ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6A5268F-F1BD-200C-3360-F4A0988CAF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80ECF8-9506-4D60-A816-A0398180C77F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42690311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K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8E42818-0E40-8748-5881-78D5DFD55FB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/>
              <a:t>Программа конвертации валют с использованием </a:t>
            </a:r>
            <a:r>
              <a:rPr lang="en-US" b="1" dirty="0"/>
              <a:t>API</a:t>
            </a:r>
            <a:endParaRPr lang="ru-KZ" b="1" dirty="0"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2DC5E6F2-3685-DDB2-1C94-9E6EDFA5A7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0701072"/>
              </p:ext>
            </p:extLst>
          </p:nvPr>
        </p:nvGraphicFramePr>
        <p:xfrm>
          <a:off x="1523999" y="4069279"/>
          <a:ext cx="7512425" cy="1836686"/>
        </p:xfrm>
        <a:graphic>
          <a:graphicData uri="http://schemas.openxmlformats.org/drawingml/2006/table">
            <a:tbl>
              <a:tblPr firstRow="1" firstCol="1" bandRow="1"/>
              <a:tblGrid>
                <a:gridCol w="2384964">
                  <a:extLst>
                    <a:ext uri="{9D8B030D-6E8A-4147-A177-3AD203B41FA5}">
                      <a16:colId xmlns:a16="http://schemas.microsoft.com/office/drawing/2014/main" val="2331226562"/>
                    </a:ext>
                  </a:extLst>
                </a:gridCol>
                <a:gridCol w="5127461">
                  <a:extLst>
                    <a:ext uri="{9D8B030D-6E8A-4147-A177-3AD203B41FA5}">
                      <a16:colId xmlns:a16="http://schemas.microsoft.com/office/drawing/2014/main" val="3979609999"/>
                    </a:ext>
                  </a:extLst>
                </a:gridCol>
              </a:tblGrid>
              <a:tr h="611960">
                <a:tc>
                  <a:txBody>
                    <a:bodyPr/>
                    <a:lstStyle/>
                    <a:p>
                      <a:pPr indent="450215" algn="r">
                        <a:lnSpc>
                          <a:spcPct val="150000"/>
                        </a:lnSpc>
                        <a:buNone/>
                      </a:pPr>
                      <a:r>
                        <a:rPr lang="ru-RU" sz="1400" dirty="0">
                          <a:effectLst/>
                          <a:latin typeface="+mn-lt"/>
                          <a:ea typeface="Times New Roman" panose="02020603050405020304" pitchFamily="18" charset="0"/>
                        </a:rPr>
                        <a:t>Название программы</a:t>
                      </a:r>
                      <a:r>
                        <a:rPr lang="en-US" sz="1400" dirty="0">
                          <a:effectLst/>
                          <a:latin typeface="+mn-lt"/>
                          <a:ea typeface="Times New Roman" panose="02020603050405020304" pitchFamily="18" charset="0"/>
                        </a:rPr>
                        <a:t>:</a:t>
                      </a:r>
                      <a:endParaRPr lang="ru-KZ" sz="1400" dirty="0">
                        <a:effectLst/>
                        <a:latin typeface="+mn-lt"/>
                        <a:ea typeface="Calibri" panose="020F050202020403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indent="450215" algn="l">
                        <a:lnSpc>
                          <a:spcPct val="150000"/>
                        </a:lnSpc>
                        <a:buNone/>
                      </a:pPr>
                      <a:r>
                        <a:rPr lang="ru-RU" sz="1400" b="1" dirty="0">
                          <a:effectLst/>
                          <a:latin typeface="+mn-lt"/>
                          <a:ea typeface="Times New Roman" panose="02020603050405020304" pitchFamily="18" charset="0"/>
                        </a:rPr>
                        <a:t>«</a:t>
                      </a:r>
                      <a:r>
                        <a:rPr lang="en-US" sz="1400" b="1" dirty="0">
                          <a:effectLst/>
                          <a:latin typeface="+mn-lt"/>
                          <a:ea typeface="Times New Roman" panose="02020603050405020304" pitchFamily="18" charset="0"/>
                        </a:rPr>
                        <a:t>Python</a:t>
                      </a:r>
                      <a:r>
                        <a:rPr lang="ru-RU" sz="1400" b="1" dirty="0">
                          <a:effectLst/>
                          <a:latin typeface="+mn-lt"/>
                          <a:ea typeface="Times New Roman" panose="02020603050405020304" pitchFamily="18" charset="0"/>
                        </a:rPr>
                        <a:t>-разработчик с использованием инструментов ИИ»</a:t>
                      </a:r>
                      <a:endParaRPr lang="ru-KZ" sz="1400" dirty="0">
                        <a:effectLst/>
                        <a:latin typeface="+mn-lt"/>
                        <a:ea typeface="Calibri" panose="020F050202020403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9953457"/>
                  </a:ext>
                </a:extLst>
              </a:tr>
              <a:tr h="274955">
                <a:tc>
                  <a:txBody>
                    <a:bodyPr/>
                    <a:lstStyle/>
                    <a:p>
                      <a:pPr indent="450215" algn="r">
                        <a:lnSpc>
                          <a:spcPct val="150000"/>
                        </a:lnSpc>
                        <a:buNone/>
                      </a:pPr>
                      <a:r>
                        <a:rPr lang="ru-RU" sz="1400" dirty="0">
                          <a:effectLst/>
                          <a:latin typeface="+mn-lt"/>
                          <a:ea typeface="Times New Roman" panose="02020603050405020304" pitchFamily="18" charset="0"/>
                        </a:rPr>
                        <a:t>Группа обучения</a:t>
                      </a:r>
                      <a:r>
                        <a:rPr lang="en-US" sz="1400" dirty="0">
                          <a:effectLst/>
                          <a:latin typeface="+mn-lt"/>
                          <a:ea typeface="Times New Roman" panose="02020603050405020304" pitchFamily="18" charset="0"/>
                        </a:rPr>
                        <a:t>:</a:t>
                      </a:r>
                      <a:endParaRPr lang="ru-KZ" sz="1400" dirty="0">
                        <a:effectLst/>
                        <a:latin typeface="+mn-lt"/>
                        <a:ea typeface="Calibri" panose="020F050202020403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indent="450215" algn="l">
                        <a:lnSpc>
                          <a:spcPct val="150000"/>
                        </a:lnSpc>
                        <a:buNone/>
                      </a:pPr>
                      <a:r>
                        <a:rPr lang="ru-RU" sz="1400" b="1" dirty="0">
                          <a:effectLst/>
                          <a:latin typeface="+mn-lt"/>
                          <a:ea typeface="Times New Roman" panose="02020603050405020304" pitchFamily="18" charset="0"/>
                        </a:rPr>
                        <a:t>ПР-2-Р/2026</a:t>
                      </a:r>
                      <a:endParaRPr lang="ru-KZ" sz="1400" dirty="0">
                        <a:effectLst/>
                        <a:latin typeface="+mn-lt"/>
                        <a:ea typeface="Calibri" panose="020F050202020403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3131573"/>
                  </a:ext>
                </a:extLst>
              </a:tr>
              <a:tr h="224404">
                <a:tc>
                  <a:txBody>
                    <a:bodyPr/>
                    <a:lstStyle/>
                    <a:p>
                      <a:pPr indent="450215" algn="r">
                        <a:lnSpc>
                          <a:spcPct val="150000"/>
                        </a:lnSpc>
                        <a:buNone/>
                      </a:pPr>
                      <a:r>
                        <a:rPr lang="ru-RU" sz="1400" dirty="0">
                          <a:effectLst/>
                          <a:latin typeface="+mn-lt"/>
                          <a:ea typeface="Times New Roman" panose="02020603050405020304" pitchFamily="18" charset="0"/>
                        </a:rPr>
                        <a:t>Срок обучения</a:t>
                      </a:r>
                      <a:r>
                        <a:rPr lang="en-US" sz="1400" dirty="0">
                          <a:effectLst/>
                          <a:latin typeface="+mn-lt"/>
                          <a:ea typeface="Times New Roman" panose="02020603050405020304" pitchFamily="18" charset="0"/>
                        </a:rPr>
                        <a:t>:</a:t>
                      </a:r>
                      <a:endParaRPr lang="ru-KZ" sz="1400" dirty="0">
                        <a:effectLst/>
                        <a:latin typeface="+mn-lt"/>
                        <a:ea typeface="Calibri" panose="020F050202020403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indent="450215" algn="l">
                        <a:lnSpc>
                          <a:spcPct val="150000"/>
                        </a:lnSpc>
                        <a:buNone/>
                      </a:pPr>
                      <a:r>
                        <a:rPr lang="ru-RU" sz="1400" b="1" dirty="0">
                          <a:effectLst/>
                          <a:latin typeface="+mn-lt"/>
                          <a:ea typeface="Times New Roman" panose="02020603050405020304" pitchFamily="18" charset="0"/>
                        </a:rPr>
                        <a:t>25 мая – 29 июня 2026 г.</a:t>
                      </a:r>
                      <a:endParaRPr lang="ru-KZ" sz="1400" dirty="0">
                        <a:effectLst/>
                        <a:latin typeface="+mn-lt"/>
                        <a:ea typeface="Calibri" panose="020F050202020403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4926536"/>
                  </a:ext>
                </a:extLst>
              </a:tr>
              <a:tr h="363855">
                <a:tc>
                  <a:txBody>
                    <a:bodyPr/>
                    <a:lstStyle/>
                    <a:p>
                      <a:pPr indent="450215" algn="r">
                        <a:lnSpc>
                          <a:spcPct val="150000"/>
                        </a:lnSpc>
                        <a:buNone/>
                      </a:pPr>
                      <a:r>
                        <a:rPr lang="ru-RU" sz="1400" b="0" dirty="0">
                          <a:effectLst/>
                          <a:latin typeface="+mn-lt"/>
                          <a:ea typeface="Times New Roman" panose="02020603050405020304" pitchFamily="18" charset="0"/>
                        </a:rPr>
                        <a:t>Слушатель:</a:t>
                      </a:r>
                      <a:endParaRPr lang="ru-KZ" sz="1400" b="0" dirty="0">
                        <a:effectLst/>
                        <a:latin typeface="+mn-lt"/>
                        <a:ea typeface="Calibri" panose="020F050202020403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indent="450215" algn="l">
                        <a:lnSpc>
                          <a:spcPct val="150000"/>
                        </a:lnSpc>
                        <a:buNone/>
                      </a:pPr>
                      <a:r>
                        <a:rPr lang="ru-RU" sz="1400" b="1" dirty="0">
                          <a:effectLst/>
                          <a:latin typeface="+mn-lt"/>
                          <a:ea typeface="Times New Roman" panose="02020603050405020304" pitchFamily="18" charset="0"/>
                        </a:rPr>
                        <a:t> Приколота Максим Дмитриевич</a:t>
                      </a:r>
                      <a:endParaRPr lang="ru-KZ" sz="1400" dirty="0">
                        <a:effectLst/>
                        <a:latin typeface="+mn-lt"/>
                        <a:ea typeface="Calibri" panose="020F050202020403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4866523"/>
                  </a:ext>
                </a:extLst>
              </a:tr>
              <a:tr h="226695">
                <a:tc>
                  <a:txBody>
                    <a:bodyPr/>
                    <a:lstStyle/>
                    <a:p>
                      <a:pPr indent="450215" algn="r">
                        <a:lnSpc>
                          <a:spcPct val="150000"/>
                        </a:lnSpc>
                        <a:buNone/>
                      </a:pPr>
                      <a:r>
                        <a:rPr lang="ru-RU" sz="1400" dirty="0">
                          <a:effectLst/>
                          <a:latin typeface="+mn-lt"/>
                          <a:ea typeface="Times New Roman" panose="02020603050405020304" pitchFamily="18" charset="0"/>
                        </a:rPr>
                        <a:t>Номер кейса</a:t>
                      </a:r>
                      <a:endParaRPr lang="ru-KZ" sz="1400" dirty="0">
                        <a:effectLst/>
                        <a:latin typeface="+mn-lt"/>
                        <a:ea typeface="Calibri" panose="020F050202020403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indent="450215" algn="l">
                        <a:lnSpc>
                          <a:spcPct val="150000"/>
                        </a:lnSpc>
                        <a:buNone/>
                      </a:pPr>
                      <a:r>
                        <a:rPr lang="ru-RU" sz="1400" b="1" dirty="0">
                          <a:effectLst/>
                          <a:latin typeface="+mn-lt"/>
                          <a:ea typeface="Times New Roman" panose="02020603050405020304" pitchFamily="18" charset="0"/>
                        </a:rPr>
                        <a:t>2</a:t>
                      </a:r>
                      <a:endParaRPr lang="ru-KZ" sz="1400" dirty="0">
                        <a:effectLst/>
                        <a:latin typeface="+mn-lt"/>
                        <a:ea typeface="Calibri" panose="020F050202020403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19093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738612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4FB4D38-BE86-4549-61A1-8B4B34A7EA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Функция конвертации</a:t>
            </a:r>
            <a:endParaRPr lang="ru-KZ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5C7CF7A-76C5-A926-5F82-6A469A329501}"/>
              </a:ext>
            </a:extLst>
          </p:cNvPr>
          <p:cNvSpPr txBox="1"/>
          <p:nvPr/>
        </p:nvSpPr>
        <p:spPr>
          <a:xfrm>
            <a:off x="6714565" y="2064753"/>
            <a:ext cx="4957482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Извлечение значений переменных из других функций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Обработка исключений на случай некорректной передачи суммы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Возвращение той же суммы в случае одинаковых валют на входе и выходе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Получение коэффициента и даты из функции </a:t>
            </a:r>
            <a:r>
              <a:rPr lang="en-US" dirty="0" err="1"/>
              <a:t>get_coef</a:t>
            </a:r>
            <a:r>
              <a:rPr lang="en-US" dirty="0"/>
              <a:t>()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Возвращение информации об отсутствии интернета в случае отсутствия значения коэффициента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Расчет итоговой суммы с округлениями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Возвращение результата с датой или без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KZ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53CED4A-6781-7701-EB9A-A741D37799B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750" t="15556" r="46765" b="10849"/>
          <a:stretch>
            <a:fillRect/>
          </a:stretch>
        </p:blipFill>
        <p:spPr>
          <a:xfrm>
            <a:off x="735106" y="1445746"/>
            <a:ext cx="5423647" cy="5047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58648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3D28C-A71A-16C9-E949-6B44F9A92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170CA48C-839C-7B43-CCB9-B86D7811A7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93452"/>
            <a:ext cx="5510484" cy="5200745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F5F0EB-0654-52EB-1860-3F9396EDC5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Функция получения коэффициента и даты</a:t>
            </a:r>
            <a:endParaRPr lang="ru-KZ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0426493-D0A0-0187-1C46-62A83F9CD080}"/>
              </a:ext>
            </a:extLst>
          </p:cNvPr>
          <p:cNvSpPr txBox="1"/>
          <p:nvPr/>
        </p:nvSpPr>
        <p:spPr>
          <a:xfrm>
            <a:off x="6732494" y="2901162"/>
            <a:ext cx="4957482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Извлечение значений переменных из других функций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Обработка исключений на случай отсутствия кэша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Извлечение коэффициента из бесплатного </a:t>
            </a:r>
            <a:r>
              <a:rPr lang="en-US" dirty="0"/>
              <a:t>API</a:t>
            </a:r>
            <a:endParaRPr lang="ru-R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Фиксация даты и времени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Сохранение коэффициента, даты и времени в кэш</a:t>
            </a:r>
          </a:p>
        </p:txBody>
      </p:sp>
    </p:spTree>
    <p:extLst>
      <p:ext uri="{BB962C8B-B14F-4D97-AF65-F5344CB8AC3E}">
        <p14:creationId xmlns:p14="http://schemas.microsoft.com/office/powerpoint/2010/main" val="3227048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CAFD4C-7DD0-3C94-D4C4-96D3B64BD4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CE33D46-BBBE-0EA8-AFFF-B182065A2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Сохранение и загрузка кэша</a:t>
            </a:r>
            <a:endParaRPr lang="ru-KZ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D4FA17D-4157-2E9B-17B5-FB3991D0EC85}"/>
              </a:ext>
            </a:extLst>
          </p:cNvPr>
          <p:cNvSpPr txBox="1"/>
          <p:nvPr/>
        </p:nvSpPr>
        <p:spPr>
          <a:xfrm>
            <a:off x="6714564" y="3455159"/>
            <a:ext cx="495748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Создание файла </a:t>
            </a:r>
            <a:r>
              <a:rPr lang="en-US" dirty="0" err="1"/>
              <a:t>json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Функция для загрузки данных в случае наличия и возвращение пустого словаря в случае отсутствия данных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Сохранение данных в кэш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98E1E30-663D-128D-EF20-30B9CB1559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0578" y="2970496"/>
            <a:ext cx="3859306" cy="2446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35923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6E5BC-78A5-5BCD-7072-64BEFB746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0AC7AB0-A048-9F12-3E40-738F3187F9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 для создания интерфейса</a:t>
            </a:r>
            <a:endParaRPr lang="ru-KZ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084438A-2554-C94D-DD50-E775DD3543F3}"/>
              </a:ext>
            </a:extLst>
          </p:cNvPr>
          <p:cNvSpPr txBox="1"/>
          <p:nvPr/>
        </p:nvSpPr>
        <p:spPr>
          <a:xfrm>
            <a:off x="6096000" y="2675230"/>
            <a:ext cx="495748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Наследование от классу </a:t>
            </a:r>
            <a:r>
              <a:rPr lang="en-US" dirty="0" err="1"/>
              <a:t>QWidget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Заголовок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Размер окна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Центрирование при расширении окна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Выпадающие списки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Поле для ввода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Кнопки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Место для результата расчета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Место для даты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Добавление функционала в </a:t>
            </a:r>
            <a:r>
              <a:rPr lang="en-US" dirty="0"/>
              <a:t>layout</a:t>
            </a:r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519AA8F-F748-21AD-FC83-2C86262B81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3" y="1604207"/>
            <a:ext cx="2909046" cy="3498659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27E9D26-D31B-FC14-9DE7-C948FE828C2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69"/>
          <a:stretch>
            <a:fillRect/>
          </a:stretch>
        </p:blipFill>
        <p:spPr>
          <a:xfrm>
            <a:off x="1905003" y="4849430"/>
            <a:ext cx="2909046" cy="1643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6423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F39591-6A34-A1F5-07B1-D26B83A03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825F01B-83BC-F1F0-C57D-1F5408A30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Функция реверса курса</a:t>
            </a:r>
            <a:endParaRPr lang="ru-KZ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B29B3F-BE3F-1693-C575-8EA6D11389ED}"/>
              </a:ext>
            </a:extLst>
          </p:cNvPr>
          <p:cNvSpPr txBox="1"/>
          <p:nvPr/>
        </p:nvSpPr>
        <p:spPr>
          <a:xfrm>
            <a:off x="6176681" y="3614757"/>
            <a:ext cx="495748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Меняет местами имеющуюся и запрашиваемую валюта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Применяет функцию конвертации для нового статуса валют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1D319B3-A39C-DA5A-4860-995FD6628E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188" y="3429000"/>
            <a:ext cx="4496427" cy="1571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75679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7F4006-1888-4F4B-192F-82D6E49DE1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0126ECD-2C3B-7131-BEF1-76ADBFCF8D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Интерфейс приложения</a:t>
            </a:r>
            <a:endParaRPr lang="ru-KZ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E4BE870-23AC-B864-E866-8BEB7AED3E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3338" y="1907589"/>
            <a:ext cx="5725324" cy="3324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68223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AB155-B63B-0E15-27A7-4CC61F5DD3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A9479CA-312A-BF0C-EDB3-099BF1D73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Источники</a:t>
            </a:r>
            <a:endParaRPr lang="ru-KZ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75CEC8-EBF9-05B6-BDC0-430046B133CD}"/>
              </a:ext>
            </a:extLst>
          </p:cNvPr>
          <p:cNvSpPr txBox="1"/>
          <p:nvPr/>
        </p:nvSpPr>
        <p:spPr>
          <a:xfrm>
            <a:off x="838200" y="2248850"/>
            <a:ext cx="4957482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buAutoNum type="arabicPeriod"/>
            </a:pPr>
            <a:r>
              <a:rPr lang="ru-RU" dirty="0"/>
              <a:t>Библиотеки (пакеты):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Datetime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dirty="0" err="1"/>
              <a:t>Decimal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Json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err="1"/>
              <a:t>Os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dirty="0"/>
              <a:t>PyQt6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R</a:t>
            </a:r>
            <a:r>
              <a:rPr lang="ru-RU" dirty="0" err="1"/>
              <a:t>equests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dirty="0" err="1"/>
              <a:t>sys</a:t>
            </a:r>
            <a:endParaRPr lang="ru-KZ" dirty="0"/>
          </a:p>
          <a:p>
            <a:pPr marL="342900" lvl="0" indent="-342900">
              <a:buFont typeface="+mj-lt"/>
              <a:buAutoNum type="arabicPeriod"/>
            </a:pPr>
            <a:r>
              <a:rPr lang="ru-RU" dirty="0"/>
              <a:t>Веб-ресурсы</a:t>
            </a:r>
            <a:r>
              <a:rPr lang="en-US" dirty="0"/>
              <a:t>:</a:t>
            </a:r>
            <a:r>
              <a:rPr lang="ru-RU" dirty="0"/>
              <a:t> 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dirty="0"/>
              <a:t>https://api.frankfurter.dev</a:t>
            </a:r>
            <a:endParaRPr lang="ru-KZ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https</a:t>
            </a:r>
            <a:r>
              <a:rPr lang="ru-RU" dirty="0"/>
              <a:t>://</a:t>
            </a:r>
            <a:r>
              <a:rPr lang="en-US" dirty="0" err="1"/>
              <a:t>chatgpt</a:t>
            </a:r>
            <a:r>
              <a:rPr lang="ru-RU" dirty="0"/>
              <a:t>.</a:t>
            </a:r>
            <a:r>
              <a:rPr lang="en-US" dirty="0"/>
              <a:t>com</a:t>
            </a:r>
            <a:r>
              <a:rPr lang="ru-RU" dirty="0"/>
              <a:t>/</a:t>
            </a:r>
            <a:endParaRPr lang="ru-KZ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https</a:t>
            </a:r>
            <a:r>
              <a:rPr lang="ru-RU" dirty="0"/>
              <a:t>://</a:t>
            </a:r>
            <a:r>
              <a:rPr lang="en-US" dirty="0" err="1"/>
              <a:t>github</a:t>
            </a:r>
            <a:r>
              <a:rPr lang="ru-RU" dirty="0"/>
              <a:t>.</a:t>
            </a:r>
            <a:r>
              <a:rPr lang="en-US" dirty="0"/>
              <a:t>com</a:t>
            </a:r>
            <a:r>
              <a:rPr lang="ru-RU" dirty="0"/>
              <a:t>/</a:t>
            </a:r>
            <a:endParaRPr lang="ru-KZ" dirty="0"/>
          </a:p>
        </p:txBody>
      </p:sp>
    </p:spTree>
    <p:extLst>
      <p:ext uri="{BB962C8B-B14F-4D97-AF65-F5344CB8AC3E}">
        <p14:creationId xmlns:p14="http://schemas.microsoft.com/office/powerpoint/2010/main" val="3215821370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246</Words>
  <Application>Microsoft Office PowerPoint</Application>
  <PresentationFormat>Широкоэкранный</PresentationFormat>
  <Paragraphs>58</Paragraphs>
  <Slides>8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Тема Office</vt:lpstr>
      <vt:lpstr>Программа конвертации валют с использованием API</vt:lpstr>
      <vt:lpstr>Функция конвертации</vt:lpstr>
      <vt:lpstr>Функция получения коэффициента и даты</vt:lpstr>
      <vt:lpstr>Сохранение и загрузка кэша</vt:lpstr>
      <vt:lpstr>Класс для создания интерфейса</vt:lpstr>
      <vt:lpstr>Функция реверса курса</vt:lpstr>
      <vt:lpstr>Интерфейс приложения</vt:lpstr>
      <vt:lpstr>Источники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Максим Приколота</dc:creator>
  <cp:lastModifiedBy>Максим Приколота</cp:lastModifiedBy>
  <cp:revision>3</cp:revision>
  <dcterms:created xsi:type="dcterms:W3CDTF">2026-06-27T13:29:08Z</dcterms:created>
  <dcterms:modified xsi:type="dcterms:W3CDTF">2026-06-27T17:05:59Z</dcterms:modified>
</cp:coreProperties>
</file>